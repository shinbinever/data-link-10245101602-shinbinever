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告警数</c:f>
              <c:strCache>
                <c:ptCount val="1"/>
                <c:pt idx="0">
                  <c:v>告警数</c:v>
                </c:pt>
              </c:strCache>
            </c:strRef>
          </c:tx>
          <c:spPr>
            <a:solidFill>
              <a:srgbClr val="3D8DFF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{"位置缺失","数据延迟","航向越界","联合键重复"}</c:f>
              <c:strCache>
                <c:ptCount val="4"/>
                <c:pt idx="0">
                  <c:v>位置缺失</c:v>
                </c:pt>
                <c:pt idx="1">
                  <c:v>数据延迟</c:v>
                </c:pt>
                <c:pt idx="2">
                  <c:v>航向越界</c:v>
                </c:pt>
                <c:pt idx="3">
                  <c:v>联合键重复</c:v>
                </c:pt>
              </c:strCache>
            </c:strRef>
          </c:cat>
          <c:val>
            <c:numRef>
              <c:f>{1,1,1,1}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2"/>
          <c:min val="0"/>
        </c:scaling>
        <c:delete val="0"/>
        <c:axPos val="l"/>
        <c:majorGridlines>
          <c:spPr>
            <a:ln w="9525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50112"/>
        <c:crosses val="autoZero"/>
        <c:crossBetween val="between"/>
        <c:majorUnit val="1"/>
      </c:valAx>
      <c:spPr>
        <a:noFill/>
      </c:spPr>
    </c:plotArea>
    <c:plotVisOnly val="1"/>
    <c:dispBlanksAs val="gap"/>
    <c:showDLblsOverMax val="0"/>
    <c:extLst>
      <c:ext uri="{0b15fc19-7d7d-44ad-8c2d-2c3a37ce22c3}">
        <chartProps xmlns="https://web.wps.cn/et/2018/main" chartId="{ec34b4f2-cd1e-46a5-8348-69ab01898f08}"/>
      </c:ext>
    </c:extLst>
  </c:chart>
  <c:spPr>
    <a:solidFill>
      <a:srgbClr val="FFFFFF"/>
    </a:solidFill>
    <a:ln w="0">
      <a:solidFill>
        <a:srgbClr val="FFFFFF"/>
      </a:solidFill>
      <a:prstDash val="solid"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title-1"/>
          <p:cNvSpPr>
            <a:spLocks noGrp="1"/>
          </p:cNvSpPr>
          <p:nvPr/>
        </p:nvSpPr>
        <p:spPr>
          <a:xfrm>
            <a:off x="495300" y="32385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7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统一入口把 M2—M5 串成可复现的数据链流程</a:t>
            </a:r>
            <a:endParaRPr sz="27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1"/>
          <p:cNvSpPr>
            <a:spLocks noGrp="1"/>
          </p:cNvSpPr>
          <p:nvPr/>
        </p:nvSpPr>
        <p:spPr>
          <a:xfrm>
            <a:off x="11334750" y="630555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714"/>
          </a:bodyPr>
          <a:lstStyle/>
          <a:p>
            <a:pPr algn="r">
              <a:defRPr sz="1050" b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050" b="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identity"/>
          <p:cNvSpPr>
            <a:spLocks noGrp="1"/>
          </p:cNvSpPr>
          <p:nvPr/>
        </p:nvSpPr>
        <p:spPr>
          <a:xfrm>
            <a:off x="514350" y="952500"/>
            <a:ext cx="666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350" b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吴博萱｜10245101602｜M6 综合演练</a:t>
            </a:r>
            <a:endParaRPr sz="1350" b="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tage-0"/>
          <p:cNvSpPr>
            <a:spLocks noGrp="1"/>
          </p:cNvSpPr>
          <p:nvPr/>
        </p:nvSpPr>
        <p:spPr>
          <a:xfrm>
            <a:off x="476250" y="2095500"/>
            <a:ext cx="1619250" cy="2095500"/>
          </a:xfrm>
          <a:prstGeom prst="roundRect">
            <a:avLst>
              <a:gd name="adj" fmla="val 7059"/>
            </a:avLst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" name="stage-head-0"/>
          <p:cNvSpPr>
            <a:spLocks noGrp="1"/>
          </p:cNvSpPr>
          <p:nvPr/>
        </p:nvSpPr>
        <p:spPr>
          <a:xfrm>
            <a:off x="609600" y="2286000"/>
            <a:ext cx="1352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</a:t>
            </a:r>
            <a:endParaRPr sz="18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tage-body-0"/>
          <p:cNvSpPr>
            <a:spLocks noGrp="1"/>
          </p:cNvSpPr>
          <p:nvPr/>
        </p:nvSpPr>
        <p:spPr>
          <a:xfrm>
            <a:off x="609600" y="2857500"/>
            <a:ext cx="13525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8208"/>
          </a:bodyPr>
          <a:lstStyle/>
          <a:p>
            <a:pPr algn="l">
              <a:defRPr sz="142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OpenSky 状态</a:t>
            </a:r>
            <a:endParaRPr sz="1425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42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TeachingLink 帧</a:t>
            </a:r>
            <a:endParaRPr sz="1425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arrow-0"/>
          <p:cNvSpPr>
            <a:spLocks noGrp="1"/>
          </p:cNvSpPr>
          <p:nvPr/>
        </p:nvSpPr>
        <p:spPr>
          <a:xfrm>
            <a:off x="2095500" y="2857500"/>
            <a:ext cx="304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45516"/>
          </a:bodyPr>
          <a:lstStyle/>
          <a:p>
            <a:pPr algn="ctr">
              <a:defRPr sz="21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10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tage-1"/>
          <p:cNvSpPr>
            <a:spLocks noGrp="1"/>
          </p:cNvSpPr>
          <p:nvPr/>
        </p:nvSpPr>
        <p:spPr>
          <a:xfrm>
            <a:off x="2400300" y="2095500"/>
            <a:ext cx="1619250" cy="2095500"/>
          </a:xfrm>
          <a:prstGeom prst="roundRect">
            <a:avLst>
              <a:gd name="adj" fmla="val 7059"/>
            </a:avLst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" name="stage-head-1"/>
          <p:cNvSpPr>
            <a:spLocks noGrp="1"/>
          </p:cNvSpPr>
          <p:nvPr/>
        </p:nvSpPr>
        <p:spPr>
          <a:xfrm>
            <a:off x="2533650" y="2286000"/>
            <a:ext cx="1352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M2</a:t>
            </a:r>
            <a:endParaRPr sz="18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tage-body-1"/>
          <p:cNvSpPr>
            <a:spLocks noGrp="1"/>
          </p:cNvSpPr>
          <p:nvPr/>
        </p:nvSpPr>
        <p:spPr>
          <a:xfrm>
            <a:off x="2533650" y="2857500"/>
            <a:ext cx="13525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解析 · 编码</a:t>
            </a:r>
            <a:endParaRPr sz="1425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42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解码 · 校验</a:t>
            </a:r>
            <a:endParaRPr sz="1425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arrow-1"/>
          <p:cNvSpPr>
            <a:spLocks noGrp="1"/>
          </p:cNvSpPr>
          <p:nvPr/>
        </p:nvSpPr>
        <p:spPr>
          <a:xfrm>
            <a:off x="4019550" y="2857500"/>
            <a:ext cx="304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45516"/>
          </a:bodyPr>
          <a:lstStyle/>
          <a:p>
            <a:pPr algn="ctr">
              <a:defRPr sz="21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10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tage-2"/>
          <p:cNvSpPr>
            <a:spLocks noGrp="1"/>
          </p:cNvSpPr>
          <p:nvPr/>
        </p:nvSpPr>
        <p:spPr>
          <a:xfrm>
            <a:off x="4324350" y="2095500"/>
            <a:ext cx="1619250" cy="2095500"/>
          </a:xfrm>
          <a:prstGeom prst="roundRect">
            <a:avLst>
              <a:gd name="adj" fmla="val 7059"/>
            </a:avLst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3" name="stage-head-2"/>
          <p:cNvSpPr>
            <a:spLocks noGrp="1"/>
          </p:cNvSpPr>
          <p:nvPr/>
        </p:nvSpPr>
        <p:spPr>
          <a:xfrm>
            <a:off x="4457700" y="2286000"/>
            <a:ext cx="1352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M3</a:t>
            </a:r>
            <a:endParaRPr sz="18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tage-body-2"/>
          <p:cNvSpPr>
            <a:spLocks noGrp="1"/>
          </p:cNvSpPr>
          <p:nvPr/>
        </p:nvSpPr>
        <p:spPr>
          <a:xfrm>
            <a:off x="4457700" y="2857500"/>
            <a:ext cx="13525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航迹关联</a:t>
            </a:r>
            <a:endParaRPr sz="1425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42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当前态势</a:t>
            </a:r>
            <a:endParaRPr sz="1425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arrow-2"/>
          <p:cNvSpPr>
            <a:spLocks noGrp="1"/>
          </p:cNvSpPr>
          <p:nvPr/>
        </p:nvSpPr>
        <p:spPr>
          <a:xfrm>
            <a:off x="5943600" y="2857500"/>
            <a:ext cx="304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45516"/>
          </a:bodyPr>
          <a:lstStyle/>
          <a:p>
            <a:pPr algn="ctr">
              <a:defRPr sz="21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10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stage-3"/>
          <p:cNvSpPr>
            <a:spLocks noGrp="1"/>
          </p:cNvSpPr>
          <p:nvPr/>
        </p:nvSpPr>
        <p:spPr>
          <a:xfrm>
            <a:off x="6248400" y="2095500"/>
            <a:ext cx="1619250" cy="2095500"/>
          </a:xfrm>
          <a:prstGeom prst="roundRect">
            <a:avLst>
              <a:gd name="adj" fmla="val 7059"/>
            </a:avLst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7" name="stage-head-3"/>
          <p:cNvSpPr>
            <a:spLocks noGrp="1"/>
          </p:cNvSpPr>
          <p:nvPr/>
        </p:nvSpPr>
        <p:spPr>
          <a:xfrm>
            <a:off x="6381750" y="2286000"/>
            <a:ext cx="1352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M4</a:t>
            </a:r>
            <a:endParaRPr sz="18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stage-body-3"/>
          <p:cNvSpPr>
            <a:spLocks noGrp="1"/>
          </p:cNvSpPr>
          <p:nvPr/>
        </p:nvSpPr>
        <p:spPr>
          <a:xfrm>
            <a:off x="6381750" y="2857500"/>
            <a:ext cx="13525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人工核验映射</a:t>
            </a:r>
            <a:endParaRPr sz="1425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42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统一消息</a:t>
            </a:r>
            <a:endParaRPr sz="1425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arrow-3"/>
          <p:cNvSpPr>
            <a:spLocks noGrp="1"/>
          </p:cNvSpPr>
          <p:nvPr/>
        </p:nvSpPr>
        <p:spPr>
          <a:xfrm>
            <a:off x="7867650" y="2857500"/>
            <a:ext cx="304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45516"/>
          </a:bodyPr>
          <a:lstStyle/>
          <a:p>
            <a:pPr algn="ctr">
              <a:defRPr sz="21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10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stage-4"/>
          <p:cNvSpPr>
            <a:spLocks noGrp="1"/>
          </p:cNvSpPr>
          <p:nvPr/>
        </p:nvSpPr>
        <p:spPr>
          <a:xfrm>
            <a:off x="8172450" y="2095500"/>
            <a:ext cx="1619250" cy="2095500"/>
          </a:xfrm>
          <a:prstGeom prst="roundRect">
            <a:avLst>
              <a:gd name="adj" fmla="val 7059"/>
            </a:avLst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1" name="stage-head-4"/>
          <p:cNvSpPr>
            <a:spLocks noGrp="1"/>
          </p:cNvSpPr>
          <p:nvPr/>
        </p:nvSpPr>
        <p:spPr>
          <a:xfrm>
            <a:off x="8305800" y="2286000"/>
            <a:ext cx="1352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M5</a:t>
            </a:r>
            <a:endParaRPr sz="18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stage-body-4"/>
          <p:cNvSpPr>
            <a:spLocks noGrp="1"/>
          </p:cNvSpPr>
          <p:nvPr/>
        </p:nvSpPr>
        <p:spPr>
          <a:xfrm>
            <a:off x="8305800" y="2857500"/>
            <a:ext cx="13525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异常检测</a:t>
            </a:r>
            <a:endParaRPr sz="1425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42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质量态势</a:t>
            </a:r>
            <a:endParaRPr sz="1425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arrow-4"/>
          <p:cNvSpPr>
            <a:spLocks noGrp="1"/>
          </p:cNvSpPr>
          <p:nvPr/>
        </p:nvSpPr>
        <p:spPr>
          <a:xfrm>
            <a:off x="9791700" y="2857500"/>
            <a:ext cx="3048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45516"/>
          </a:bodyPr>
          <a:lstStyle/>
          <a:p>
            <a:pPr algn="ctr">
              <a:defRPr sz="21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210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stage-5"/>
          <p:cNvSpPr>
            <a:spLocks noGrp="1"/>
          </p:cNvSpPr>
          <p:nvPr/>
        </p:nvSpPr>
        <p:spPr>
          <a:xfrm>
            <a:off x="10096500" y="2095500"/>
            <a:ext cx="1619250" cy="2095500"/>
          </a:xfrm>
          <a:prstGeom prst="roundRect">
            <a:avLst>
              <a:gd name="adj" fmla="val 7059"/>
            </a:avLst>
          </a:prstGeom>
          <a:solidFill>
            <a:srgbClr val="D0EDFA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25" name="stage-head-5"/>
          <p:cNvSpPr>
            <a:spLocks noGrp="1"/>
          </p:cNvSpPr>
          <p:nvPr/>
        </p:nvSpPr>
        <p:spPr>
          <a:xfrm>
            <a:off x="10229850" y="2286000"/>
            <a:ext cx="1352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</a:t>
            </a:r>
            <a:endParaRPr sz="1875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stage-body-5"/>
          <p:cNvSpPr>
            <a:spLocks noGrp="1"/>
          </p:cNvSpPr>
          <p:nvPr/>
        </p:nvSpPr>
        <p:spPr>
          <a:xfrm>
            <a:off x="10229850" y="2857500"/>
            <a:ext cx="152717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42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 项关键成果</a:t>
            </a:r>
            <a:endParaRPr sz="1425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42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可重复生成</a:t>
            </a:r>
            <a:endParaRPr sz="1425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boundary"/>
          <p:cNvSpPr>
            <a:spLocks noGrp="1"/>
          </p:cNvSpPr>
          <p:nvPr/>
        </p:nvSpPr>
        <p:spPr>
          <a:xfrm>
            <a:off x="495300" y="4762500"/>
            <a:ext cx="11144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系统边界：离线教学数据与 TeachingLink 教学协议；未启用 SQLite，不使用助教检查点替代个人成果。</a:t>
            </a:r>
            <a:endParaRPr sz="1575" b="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title-2"/>
          <p:cNvSpPr>
            <a:spLocks noGrp="1"/>
          </p:cNvSpPr>
          <p:nvPr/>
        </p:nvSpPr>
        <p:spPr>
          <a:xfrm>
            <a:off x="495300" y="32385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7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发送端将 5 条原始状态转成 3 个有效 TeachingLink 帧</a:t>
            </a:r>
            <a:endParaRPr sz="27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2"/>
          <p:cNvSpPr>
            <a:spLocks noGrp="1"/>
          </p:cNvSpPr>
          <p:nvPr/>
        </p:nvSpPr>
        <p:spPr>
          <a:xfrm>
            <a:off x="11334750" y="630555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714"/>
          </a:bodyPr>
          <a:lstStyle/>
          <a:p>
            <a:pPr algn="r">
              <a:defRPr sz="1050" b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050" b="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left-head"/>
          <p:cNvSpPr>
            <a:spLocks noGrp="1"/>
          </p:cNvSpPr>
          <p:nvPr/>
        </p:nvSpPr>
        <p:spPr>
          <a:xfrm>
            <a:off x="552450" y="1352550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解析与字段治理</a:t>
            </a:r>
            <a:endParaRPr sz="18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left-body"/>
          <p:cNvSpPr>
            <a:spLocks noGrp="1"/>
          </p:cNvSpPr>
          <p:nvPr/>
        </p:nvSpPr>
        <p:spPr>
          <a:xfrm>
            <a:off x="552450" y="1924050"/>
            <a:ext cx="49530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解析 OpenSky 状态向量</a:t>
            </a:r>
            <a:endParaRPr sz="1575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7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区分真实零值与缺失值</a:t>
            </a:r>
            <a:endParaRPr sz="1575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7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统一量化经纬度、速度与航向</a:t>
            </a:r>
            <a:endParaRPr sz="1575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7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设置状态位、有效性位和保留位</a:t>
            </a:r>
            <a:endParaRPr sz="1575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metric-frame"/>
          <p:cNvSpPr>
            <a:spLocks noGrp="1"/>
          </p:cNvSpPr>
          <p:nvPr/>
        </p:nvSpPr>
        <p:spPr>
          <a:xfrm>
            <a:off x="6191250" y="1381125"/>
            <a:ext cx="4953000" cy="3333750"/>
          </a:xfrm>
          <a:prstGeom prst="roundRect">
            <a:avLst>
              <a:gd name="adj" fmla="val 3429"/>
            </a:avLst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metric-a"/>
          <p:cNvSpPr>
            <a:spLocks noGrp="1"/>
          </p:cNvSpPr>
          <p:nvPr/>
        </p:nvSpPr>
        <p:spPr>
          <a:xfrm>
            <a:off x="6619875" y="1809750"/>
            <a:ext cx="1143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43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3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435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metric-a-label"/>
          <p:cNvSpPr>
            <a:spLocks noGrp="1"/>
          </p:cNvSpPr>
          <p:nvPr/>
        </p:nvSpPr>
        <p:spPr>
          <a:xfrm>
            <a:off x="6619875" y="2714625"/>
            <a:ext cx="1524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输入记录</a:t>
            </a:r>
            <a:endParaRPr sz="15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metric-b"/>
          <p:cNvSpPr>
            <a:spLocks noGrp="1"/>
          </p:cNvSpPr>
          <p:nvPr/>
        </p:nvSpPr>
        <p:spPr>
          <a:xfrm>
            <a:off x="8858250" y="1809750"/>
            <a:ext cx="1143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43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3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435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metric-b-label"/>
          <p:cNvSpPr>
            <a:spLocks noGrp="1"/>
          </p:cNvSpPr>
          <p:nvPr/>
        </p:nvSpPr>
        <p:spPr>
          <a:xfrm>
            <a:off x="8858250" y="2714625"/>
            <a:ext cx="1714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成功编码帧</a:t>
            </a:r>
            <a:endParaRPr sz="1500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metric-c"/>
          <p:cNvSpPr>
            <a:spLocks noGrp="1"/>
          </p:cNvSpPr>
          <p:nvPr/>
        </p:nvSpPr>
        <p:spPr>
          <a:xfrm>
            <a:off x="6619875" y="3381375"/>
            <a:ext cx="2190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34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123 B</a:t>
            </a:r>
            <a:endParaRPr sz="345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metric-c-label"/>
          <p:cNvSpPr>
            <a:spLocks noGrp="1"/>
          </p:cNvSpPr>
          <p:nvPr/>
        </p:nvSpPr>
        <p:spPr>
          <a:xfrm>
            <a:off x="6619875" y="4048125"/>
            <a:ext cx="371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425" b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× 41 字节，满足固定帧长</a:t>
            </a:r>
            <a:endParaRPr sz="1425" b="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ender-note"/>
          <p:cNvSpPr>
            <a:spLocks noGrp="1"/>
          </p:cNvSpPr>
          <p:nvPr/>
        </p:nvSpPr>
        <p:spPr>
          <a:xfrm>
            <a:off x="552450" y="5095875"/>
            <a:ext cx="10572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关键实现：大端字节序、22 位经纬度编码、统一量化和教学校验和。</a:t>
            </a:r>
            <a:endParaRPr sz="1575" b="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title-3"/>
          <p:cNvSpPr>
            <a:spLocks noGrp="1"/>
          </p:cNvSpPr>
          <p:nvPr/>
        </p:nvSpPr>
        <p:spPr>
          <a:xfrm>
            <a:off x="495300" y="32385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7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接收端逐帧解封并留下可核查的验证证据</a:t>
            </a:r>
            <a:endParaRPr sz="27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3"/>
          <p:cNvSpPr>
            <a:spLocks noGrp="1"/>
          </p:cNvSpPr>
          <p:nvPr/>
        </p:nvSpPr>
        <p:spPr>
          <a:xfrm>
            <a:off x="11334750" y="630555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714"/>
          </a:bodyPr>
          <a:lstStyle/>
          <a:p>
            <a:pPr algn="r">
              <a:defRPr sz="1050" b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050" b="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n-0"/>
          <p:cNvSpPr>
            <a:spLocks noGrp="1"/>
          </p:cNvSpPr>
          <p:nvPr/>
        </p:nvSpPr>
        <p:spPr>
          <a:xfrm>
            <a:off x="552450" y="1381125"/>
            <a:ext cx="6858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9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95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h-0"/>
          <p:cNvSpPr>
            <a:spLocks noGrp="1"/>
          </p:cNvSpPr>
          <p:nvPr/>
        </p:nvSpPr>
        <p:spPr>
          <a:xfrm>
            <a:off x="1381125" y="1381125"/>
            <a:ext cx="2476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固定帧切分</a:t>
            </a:r>
            <a:endParaRPr sz="172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b-0"/>
          <p:cNvSpPr>
            <a:spLocks noGrp="1"/>
          </p:cNvSpPr>
          <p:nvPr/>
        </p:nvSpPr>
        <p:spPr>
          <a:xfrm>
            <a:off x="4000500" y="1381125"/>
            <a:ext cx="700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 41 字节读取一帧；输入边界已对齐。</a:t>
            </a:r>
            <a:endParaRPr sz="1500" b="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ule-0"/>
          <p:cNvSpPr>
            <a:spLocks noGrp="1"/>
          </p:cNvSpPr>
          <p:nvPr/>
        </p:nvSpPr>
        <p:spPr>
          <a:xfrm>
            <a:off x="552450" y="2066925"/>
            <a:ext cx="10448925" cy="9525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7" name="n-1"/>
          <p:cNvSpPr>
            <a:spLocks noGrp="1"/>
          </p:cNvSpPr>
          <p:nvPr/>
        </p:nvSpPr>
        <p:spPr>
          <a:xfrm>
            <a:off x="552450" y="2447925"/>
            <a:ext cx="6858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9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95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h-1"/>
          <p:cNvSpPr>
            <a:spLocks noGrp="1"/>
          </p:cNvSpPr>
          <p:nvPr/>
        </p:nvSpPr>
        <p:spPr>
          <a:xfrm>
            <a:off x="1381125" y="2447925"/>
            <a:ext cx="2476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字段解码</a:t>
            </a:r>
            <a:endParaRPr sz="172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b-1"/>
          <p:cNvSpPr>
            <a:spLocks noGrp="1"/>
          </p:cNvSpPr>
          <p:nvPr/>
        </p:nvSpPr>
        <p:spPr>
          <a:xfrm>
            <a:off x="4000500" y="2447925"/>
            <a:ext cx="700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恢复位置、运动、身份、状态与有效性字段。</a:t>
            </a:r>
            <a:endParaRPr sz="1500" b="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ule-1"/>
          <p:cNvSpPr>
            <a:spLocks noGrp="1"/>
          </p:cNvSpPr>
          <p:nvPr/>
        </p:nvSpPr>
        <p:spPr>
          <a:xfrm>
            <a:off x="552450" y="3133725"/>
            <a:ext cx="10448925" cy="9525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11" name="n-2"/>
          <p:cNvSpPr>
            <a:spLocks noGrp="1"/>
          </p:cNvSpPr>
          <p:nvPr/>
        </p:nvSpPr>
        <p:spPr>
          <a:xfrm>
            <a:off x="552450" y="3514725"/>
            <a:ext cx="6858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9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95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h-2"/>
          <p:cNvSpPr>
            <a:spLocks noGrp="1"/>
          </p:cNvSpPr>
          <p:nvPr/>
        </p:nvSpPr>
        <p:spPr>
          <a:xfrm>
            <a:off x="1381125" y="3514725"/>
            <a:ext cx="2476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完整性验证</a:t>
            </a:r>
            <a:endParaRPr sz="172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b-2"/>
          <p:cNvSpPr>
            <a:spLocks noGrp="1"/>
          </p:cNvSpPr>
          <p:nvPr/>
        </p:nvSpPr>
        <p:spPr>
          <a:xfrm>
            <a:off x="4000500" y="3514725"/>
            <a:ext cx="700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检查长度、保留位、范围和教学校验和。</a:t>
            </a:r>
            <a:endParaRPr sz="1500" b="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ule-2"/>
          <p:cNvSpPr>
            <a:spLocks noGrp="1"/>
          </p:cNvSpPr>
          <p:nvPr/>
        </p:nvSpPr>
        <p:spPr>
          <a:xfrm>
            <a:off x="552450" y="4200525"/>
            <a:ext cx="10448925" cy="9525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15" name="n-3"/>
          <p:cNvSpPr>
            <a:spLocks noGrp="1"/>
          </p:cNvSpPr>
          <p:nvPr/>
        </p:nvSpPr>
        <p:spPr>
          <a:xfrm>
            <a:off x="552450" y="4581525"/>
            <a:ext cx="6858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9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95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h-3"/>
          <p:cNvSpPr>
            <a:spLocks noGrp="1"/>
          </p:cNvSpPr>
          <p:nvPr/>
        </p:nvSpPr>
        <p:spPr>
          <a:xfrm>
            <a:off x="1381125" y="4581525"/>
            <a:ext cx="2476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往返对照</a:t>
            </a:r>
            <a:endParaRPr sz="172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b-3"/>
          <p:cNvSpPr>
            <a:spLocks noGrp="1"/>
          </p:cNvSpPr>
          <p:nvPr/>
        </p:nvSpPr>
        <p:spPr>
          <a:xfrm>
            <a:off x="4000500" y="4581525"/>
            <a:ext cx="7000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 21 条字段级量化误差与一致性记录。</a:t>
            </a:r>
            <a:endParaRPr sz="1500" b="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ule-3"/>
          <p:cNvSpPr>
            <a:spLocks noGrp="1"/>
          </p:cNvSpPr>
          <p:nvPr/>
        </p:nvSpPr>
        <p:spPr>
          <a:xfrm>
            <a:off x="552450" y="5267325"/>
            <a:ext cx="10448925" cy="9525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19" name="receiver-result"/>
          <p:cNvSpPr>
            <a:spLocks noGrp="1"/>
          </p:cNvSpPr>
          <p:nvPr/>
        </p:nvSpPr>
        <p:spPr>
          <a:xfrm>
            <a:off x="552450" y="5810250"/>
            <a:ext cx="1038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结果：3 个编码帧均成功解码；另生成 2 条验证日志，用于解释被过滤的输入记录。</a:t>
            </a:r>
            <a:endParaRPr sz="15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title-4"/>
          <p:cNvSpPr>
            <a:spLocks noGrp="1"/>
          </p:cNvSpPr>
          <p:nvPr/>
        </p:nvSpPr>
        <p:spPr>
          <a:xfrm>
            <a:off x="495300" y="32385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7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 帧有效消息形成 3 个目标的当前态势</a:t>
            </a:r>
            <a:endParaRPr sz="27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4"/>
          <p:cNvSpPr>
            <a:spLocks noGrp="1"/>
          </p:cNvSpPr>
          <p:nvPr/>
        </p:nvSpPr>
        <p:spPr>
          <a:xfrm>
            <a:off x="11334750" y="630555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714"/>
          </a:bodyPr>
          <a:lstStyle/>
          <a:p>
            <a:pPr algn="r">
              <a:defRPr sz="1050" b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050" b="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lead"/>
          <p:cNvSpPr>
            <a:spLocks noGrp="1"/>
          </p:cNvSpPr>
          <p:nvPr/>
        </p:nvSpPr>
        <p:spPr>
          <a:xfrm>
            <a:off x="514350" y="1047750"/>
            <a:ext cx="11049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 target_id 分组、按 timestamp 排序，只让通过消息验证的记录进入航迹与当前态势。</a:t>
            </a:r>
            <a:endParaRPr sz="1575" b="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tatbox-0"/>
          <p:cNvSpPr>
            <a:spLocks noGrp="1"/>
          </p:cNvSpPr>
          <p:nvPr/>
        </p:nvSpPr>
        <p:spPr>
          <a:xfrm>
            <a:off x="514350" y="2095500"/>
            <a:ext cx="3476625" cy="2857500"/>
          </a:xfrm>
          <a:prstGeom prst="roundRect">
            <a:avLst>
              <a:gd name="adj" fmla="val 4000"/>
            </a:avLst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" name="stat-0"/>
          <p:cNvSpPr>
            <a:spLocks noGrp="1"/>
          </p:cNvSpPr>
          <p:nvPr/>
        </p:nvSpPr>
        <p:spPr>
          <a:xfrm>
            <a:off x="781050" y="2476500"/>
            <a:ext cx="1428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46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6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endParaRPr sz="465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label-0"/>
          <p:cNvSpPr>
            <a:spLocks noGrp="1"/>
          </p:cNvSpPr>
          <p:nvPr/>
        </p:nvSpPr>
        <p:spPr>
          <a:xfrm>
            <a:off x="781050" y="3524250"/>
            <a:ext cx="2476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解码记录</a:t>
            </a:r>
            <a:endParaRPr sz="18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ub-0"/>
          <p:cNvSpPr>
            <a:spLocks noGrp="1"/>
          </p:cNvSpPr>
          <p:nvPr/>
        </p:nvSpPr>
        <p:spPr>
          <a:xfrm>
            <a:off x="781050" y="40957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425" b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全部有效</a:t>
            </a:r>
            <a:endParaRPr sz="1425" b="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tatbox-1"/>
          <p:cNvSpPr>
            <a:spLocks noGrp="1"/>
          </p:cNvSpPr>
          <p:nvPr/>
        </p:nvSpPr>
        <p:spPr>
          <a:xfrm>
            <a:off x="4371975" y="2095500"/>
            <a:ext cx="3476625" cy="2857500"/>
          </a:xfrm>
          <a:prstGeom prst="roundRect">
            <a:avLst>
              <a:gd name="adj" fmla="val 4000"/>
            </a:avLst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" name="stat-1"/>
          <p:cNvSpPr>
            <a:spLocks noGrp="1"/>
          </p:cNvSpPr>
          <p:nvPr/>
        </p:nvSpPr>
        <p:spPr>
          <a:xfrm>
            <a:off x="4638675" y="2476500"/>
            <a:ext cx="1428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46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6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endParaRPr sz="465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label-1"/>
          <p:cNvSpPr>
            <a:spLocks noGrp="1"/>
          </p:cNvSpPr>
          <p:nvPr/>
        </p:nvSpPr>
        <p:spPr>
          <a:xfrm>
            <a:off x="4638675" y="3524250"/>
            <a:ext cx="2476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航迹记录</a:t>
            </a:r>
            <a:endParaRPr sz="18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ub-1"/>
          <p:cNvSpPr>
            <a:spLocks noGrp="1"/>
          </p:cNvSpPr>
          <p:nvPr/>
        </p:nvSpPr>
        <p:spPr>
          <a:xfrm>
            <a:off x="4638675" y="40957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425" b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保留时间序列</a:t>
            </a:r>
            <a:endParaRPr sz="1425" b="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tatbox-2"/>
          <p:cNvSpPr>
            <a:spLocks noGrp="1"/>
          </p:cNvSpPr>
          <p:nvPr/>
        </p:nvSpPr>
        <p:spPr>
          <a:xfrm>
            <a:off x="8229600" y="2095500"/>
            <a:ext cx="3476625" cy="2857500"/>
          </a:xfrm>
          <a:prstGeom prst="roundRect">
            <a:avLst>
              <a:gd name="adj" fmla="val 4000"/>
            </a:avLst>
          </a:prstGeom>
          <a:solidFill>
            <a:srgbClr val="D0EDFA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13" name="stat-2"/>
          <p:cNvSpPr>
            <a:spLocks noGrp="1"/>
          </p:cNvSpPr>
          <p:nvPr/>
        </p:nvSpPr>
        <p:spPr>
          <a:xfrm>
            <a:off x="8496300" y="2476500"/>
            <a:ext cx="1428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46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650" b="1">
                <a:solidFill>
                  <a:srgbClr val="3D8D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4650" b="1">
              <a:solidFill>
                <a:srgbClr val="3D8D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label-2"/>
          <p:cNvSpPr>
            <a:spLocks noGrp="1"/>
          </p:cNvSpPr>
          <p:nvPr/>
        </p:nvSpPr>
        <p:spPr>
          <a:xfrm>
            <a:off x="8496300" y="3524250"/>
            <a:ext cx="2476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当前目标</a:t>
            </a:r>
            <a:endParaRPr sz="18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sub-2"/>
          <p:cNvSpPr>
            <a:spLocks noGrp="1"/>
          </p:cNvSpPr>
          <p:nvPr/>
        </p:nvSpPr>
        <p:spPr>
          <a:xfrm>
            <a:off x="8496300" y="40957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425" b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每目标取最新态</a:t>
            </a:r>
            <a:endParaRPr sz="1425" b="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rack-note"/>
          <p:cNvSpPr>
            <a:spLocks noGrp="1"/>
          </p:cNvSpPr>
          <p:nvPr/>
        </p:nvSpPr>
        <p:spPr>
          <a:xfrm>
            <a:off x="514350" y="546735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00" b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输出证据：decoded_multitime.csv、track_table.csv、current_situation.csv</a:t>
            </a:r>
            <a:endParaRPr sz="1500" b="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title-5"/>
          <p:cNvSpPr>
            <a:spLocks noGrp="1"/>
          </p:cNvSpPr>
          <p:nvPr/>
        </p:nvSpPr>
        <p:spPr>
          <a:xfrm>
            <a:off x="495300" y="32385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27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人工核验映射与四类规则共同保障最终态势质量</a:t>
            </a:r>
            <a:endParaRPr sz="27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page-5"/>
          <p:cNvSpPr>
            <a:spLocks noGrp="1"/>
          </p:cNvSpPr>
          <p:nvPr/>
        </p:nvSpPr>
        <p:spPr>
          <a:xfrm>
            <a:off x="11334750" y="630555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714"/>
          </a:bodyPr>
          <a:lstStyle/>
          <a:p>
            <a:pPr algn="r">
              <a:defRPr sz="1050" b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050" b="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1" name="Chart"/>
          <p:cNvGraphicFramePr/>
          <p:nvPr/>
        </p:nvGraphicFramePr>
        <p:xfrm>
          <a:off x="514350" y="1476375"/>
          <a:ext cx="51435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" name="map-head"/>
          <p:cNvSpPr>
            <a:spLocks noGrp="1"/>
          </p:cNvSpPr>
          <p:nvPr/>
        </p:nvSpPr>
        <p:spPr>
          <a:xfrm>
            <a:off x="6286500" y="142875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语义互操作</a:t>
            </a:r>
            <a:endParaRPr sz="18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map-body"/>
          <p:cNvSpPr>
            <a:spLocks noGrp="1"/>
          </p:cNvSpPr>
          <p:nvPr/>
        </p:nvSpPr>
        <p:spPr>
          <a:xfrm>
            <a:off x="6286500" y="1952625"/>
            <a:ext cx="4953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 条候选映射经人工规则核验，生成 8 条正式映射；随后把 3 条 TeachingLink 当前态势转换为统一 NDJSON。</a:t>
            </a:r>
            <a:endParaRPr sz="1575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quality-head"/>
          <p:cNvSpPr>
            <a:spLocks noGrp="1"/>
          </p:cNvSpPr>
          <p:nvPr/>
        </p:nvSpPr>
        <p:spPr>
          <a:xfrm>
            <a:off x="6286500" y="3476625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一致性结果</a:t>
            </a:r>
            <a:endParaRPr sz="18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quality-body"/>
          <p:cNvSpPr>
            <a:spLocks noGrp="1"/>
          </p:cNvSpPr>
          <p:nvPr/>
        </p:nvSpPr>
        <p:spPr>
          <a:xfrm>
            <a:off x="6286500" y="4000500"/>
            <a:ext cx="495300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57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条输入共产生 4 条告警：HIGH 1 条、MEDIUM 3 条。规则覆盖位置缺失、延迟、航向越界与重复记录。</a:t>
            </a:r>
            <a:endParaRPr sz="1575" b="0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limit"/>
          <p:cNvSpPr>
            <a:spLocks noGrp="1"/>
          </p:cNvSpPr>
          <p:nvPr/>
        </p:nvSpPr>
        <p:spPr>
          <a:xfrm>
            <a:off x="514350" y="5905500"/>
            <a:ext cx="10858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defRPr sz="1425" b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已知限制：SQLite 为选做且本次未启用；TeachingLink 为教学协议；M4 使用学校预生成候选并由规则核验。</a:t>
            </a:r>
            <a:endParaRPr sz="1425" b="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910</Words>
  <Application>WPS 演示</Application>
  <PresentationFormat>Converted Presentation</PresentationFormat>
  <Paragraphs>143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吴博萱</cp:lastModifiedBy>
  <cp:revision>1</cp:revision>
  <dcterms:created xsi:type="dcterms:W3CDTF">2026-08-28T02:42:01Z</dcterms:created>
  <dcterms:modified xsi:type="dcterms:W3CDTF">2026-08-28T02:42:01Z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D2D4BCDAAEA54422B01386944D1F1659_12</vt:lpwstr>
  </property>
  <property fmtid="{D5CDD505-2E9C-101B-9397-08002B2CF9AE}" pid="3" name="KSOProductBuildVer">
    <vt:lpwstr>2052-12.1.0.28022</vt:lpwstr>
  </property>
</Properties>
</file>